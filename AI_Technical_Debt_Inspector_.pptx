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06" r:id="rId2"/>
    <p:sldId id="514" r:id="rId3"/>
    <p:sldId id="516" r:id="rId4"/>
    <p:sldId id="517" r:id="rId5"/>
    <p:sldId id="518" r:id="rId6"/>
    <p:sldId id="519" r:id="rId7"/>
    <p:sldId id="520" r:id="rId8"/>
    <p:sldId id="526" r:id="rId9"/>
    <p:sldId id="521" r:id="rId10"/>
    <p:sldId id="522" r:id="rId11"/>
    <p:sldId id="523" r:id="rId12"/>
    <p:sldId id="524" r:id="rId13"/>
    <p:sldId id="513" r:id="rId14"/>
  </p:sldIdLst>
  <p:sldSz cx="12192000" cy="6858000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812"/>
    <a:srgbClr val="0033CC"/>
    <a:srgbClr val="3333FF"/>
    <a:srgbClr val="FF9900"/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2146" autoAdjust="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62214009-3F85-4CC2-8A4B-ED2F23DB3E91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463834A6-7C8D-4F9C-899E-183F61067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52C12-A2F1-4FA1-B03A-CAE87308EC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E6B18-1B53-498A-A660-75C76BAA242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0"/>
            <a:ext cx="90424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t3.gstatic.com/images?q=tbn:ANd9GcQeLhX6XA-tlTDoMBiuZ4n-z36Z6C23-T2DP3nGrpByp6thipy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350"/>
            <a:ext cx="17272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74638"/>
            <a:ext cx="10414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1584325"/>
            <a:ext cx="102616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0"/>
            <a:ext cx="90424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t3.gstatic.com/images?q=tbn:ANd9GcQeLhX6XA-tlTDoMBiuZ4n-z36Z6C23-T2DP3nGrpByp6thipy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350"/>
            <a:ext cx="17272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/>
          <p:cNvCxnSpPr/>
          <p:nvPr userDrawn="1"/>
        </p:nvCxnSpPr>
        <p:spPr>
          <a:xfrm>
            <a:off x="1320800" y="615950"/>
            <a:ext cx="1087120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0"/>
            <a:ext cx="90424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t3.gstatic.com/images?q=tbn:ANd9GcQeLhX6XA-tlTDoMBiuZ4n-z36Z6C23-T2DP3nGrpByp6thipy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350"/>
            <a:ext cx="17272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0"/>
            <a:ext cx="90424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://t3.gstatic.com/images?q=tbn:ANd9GcQeLhX6XA-tlTDoMBiuZ4n-z36Z6C23-T2DP3nGrpByp6thipy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350"/>
            <a:ext cx="17272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0"/>
            <a:ext cx="90424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://t3.gstatic.com/images?q=tbn:ANd9GcQeLhX6XA-tlTDoMBiuZ4n-z36Z6C23-T2DP3nGrpByp6thipy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350"/>
            <a:ext cx="17272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0"/>
            <a:ext cx="90424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://t3.gstatic.com/images?q=tbn:ANd9GcQeLhX6XA-tlTDoMBiuZ4n-z36Z6C23-T2DP3nGrpByp6thipy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350"/>
            <a:ext cx="17272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0"/>
            <a:ext cx="90424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://t3.gstatic.com/images?q=tbn:ANd9GcQeLhX6XA-tlTDoMBiuZ4n-z36Z6C23-T2DP3nGrpByp6thipy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350"/>
            <a:ext cx="17272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0"/>
            <a:ext cx="90424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://t3.gstatic.com/images?q=tbn:ANd9GcQeLhX6XA-tlTDoMBiuZ4n-z36Z6C23-T2DP3nGrpByp6thipy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350"/>
            <a:ext cx="17272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152400"/>
            <a:ext cx="90424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0"/>
            <a:ext cx="90424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://t3.gstatic.com/images?q=tbn:ANd9GcQeLhX6XA-tlTDoMBiuZ4n-z36Z6C23-T2DP3nGrpByp6thipy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350"/>
            <a:ext cx="17272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0"/>
            <a:ext cx="90424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t3.gstatic.com/images?q=tbn:ANd9GcQeLhX6XA-tlTDoMBiuZ4n-z36Z6C23-T2DP3nGrpByp6thipy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350"/>
            <a:ext cx="17272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162401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08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37C98-01BC-4FE4-846A-1C897D8B84B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_ _ _ - CCOEWN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11A57-C7A9-4784-9F29-083DE5EA1A1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rot="5400000">
            <a:off x="-2768600" y="2768600"/>
            <a:ext cx="6858000" cy="1320800"/>
          </a:xfrm>
          <a:prstGeom prst="rect">
            <a:avLst/>
          </a:prstGeom>
          <a:solidFill>
            <a:srgbClr val="FF99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5400" b="1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  <a:p>
            <a:pPr algn="ctr"/>
            <a:r>
              <a:rPr lang="en-US" sz="5400" b="1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  <a:p>
            <a:pPr algn="ctr"/>
            <a:r>
              <a:rPr lang="en-US" sz="5400" b="1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  <a:p>
            <a:pPr algn="ctr"/>
            <a:r>
              <a:rPr lang="en-US" sz="5400" b="1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  <a:p>
            <a:pPr algn="ctr"/>
            <a:r>
              <a:rPr lang="en-US" sz="5400" b="1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  <a:p>
            <a:pPr algn="ctr"/>
            <a:r>
              <a:rPr lang="en-US" sz="3200" b="1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NGP</a:t>
            </a:r>
            <a:endParaRPr lang="en-US" sz="3600" dirty="0">
              <a:solidFill>
                <a:srgbClr val="00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Cummins College of Engineering for Women: Admission 2024, Fees, Nagpur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288"/>
            <a:ext cx="1320801" cy="595313"/>
          </a:xfrm>
          <a:prstGeom prst="rect">
            <a:avLst/>
          </a:prstGeom>
          <a:noFill/>
          <a:ln w="190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164121226002712" TargetMode="External"/><Relationship Id="rId2" Type="http://schemas.openxmlformats.org/officeDocument/2006/relationships/hyperlink" Target="https://www.sciencedirect.com/science/article/abs/pii/S016412122600301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oreilly.com/live-events/reading-and-maintaining-code-with-generative-ai/0642572012412/?_gl=1*1lmdon4*_gcl_au*ODY0MzExNDA4LjE3ODgyODIyOTk.*_ga*MTIzMjgzMTE2MC4xNzg4MjgyMjk5*_ga_092EL089CH*czE3ODgyODIyOTgkbzEkZzEkdDE3ODgyODIzMjAkajM4JGwwJGgw" TargetMode="External"/><Relationship Id="rId4" Type="http://schemas.openxmlformats.org/officeDocument/2006/relationships/hyperlink" Target="https://github.blog/engineering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72510"/>
            <a:ext cx="8534400" cy="2513965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Code Quality &amp; Refactoring System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No. 11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Sabhya Shanti (7ACE44) • Sukhada Bhalerao (7ACE63)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Gauri Narlawar (7ACE16) • Tanvi Bhole (7ACE70)</a:t>
            </a:r>
          </a:p>
          <a:p>
            <a:r>
              <a:rPr lang="en-IN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Guide: Prof. Minakshi Getkar</a:t>
            </a:r>
            <a:endParaRPr lang="en-IN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14400" y="1727200"/>
            <a:ext cx="10363200" cy="1431925"/>
          </a:xfrm>
        </p:spPr>
        <p:txBody>
          <a:bodyPr/>
          <a:lstStyle/>
          <a:p>
            <a:r>
              <a:rPr lang="en-US" dirty="0"/>
              <a:t>The AI Technical Debt Inspector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661670"/>
            <a:ext cx="10414000" cy="756285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</a:t>
            </a:r>
            <a:r>
              <a:rPr lang="en-US" altLang="en-US" dirty="0"/>
              <a:t>and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71600"/>
            <a:ext cx="6477000" cy="5349875"/>
          </a:xfrm>
        </p:spPr>
        <p:txBody>
          <a:bodyPr>
            <a:normAutofit fontScale="82500" lnSpcReduction="20000"/>
          </a:bodyPr>
          <a:lstStyle/>
          <a:p>
            <a:pPr lvl="0"/>
            <a:r>
              <a:rPr lang="en-US" sz="3600" b="1" i="1" dirty="0">
                <a:latin typeface="Book Antiqua" panose="02040602050305030304" pitchFamily="18" charset="0"/>
              </a:rPr>
              <a:t>Definition </a:t>
            </a:r>
            <a:r>
              <a:rPr lang="en-US" sz="3600" b="1" i="1">
                <a:latin typeface="Book Antiqua" panose="02040602050305030304" pitchFamily="18" charset="0"/>
              </a:rPr>
              <a:t>–</a:t>
            </a:r>
            <a:r>
              <a:rPr lang="en-US" b="1" i="1"/>
              <a:t> </a:t>
            </a:r>
          </a:p>
          <a:p>
            <a:pPr marL="0" lvl="0" indent="0">
              <a:buNone/>
            </a:pPr>
            <a:r>
              <a:rPr lang="en-US" altLang="en-US" sz="2800"/>
              <a:t>The </a:t>
            </a:r>
            <a:r>
              <a:rPr lang="en-US" altLang="en-US" sz="2800" dirty="0"/>
              <a:t>implied </a:t>
            </a:r>
            <a:r>
              <a:rPr lang="en-US" altLang="en-US" sz="2800"/>
              <a:t>future cost(in terms of time) of </a:t>
            </a:r>
            <a:r>
              <a:rPr lang="en-US" altLang="en-US" sz="2800" dirty="0"/>
              <a:t>choosing quick, short-term coding fixes over clean, </a:t>
            </a:r>
            <a:r>
              <a:rPr lang="en-US" altLang="en-US" sz="2800"/>
              <a:t>long-term architecture</a:t>
            </a:r>
            <a:r>
              <a:rPr lang="en-US" altLang="en-US" sz="2800" b="1"/>
              <a:t> </a:t>
            </a:r>
            <a:r>
              <a:rPr lang="en-US" altLang="en-US" sz="2800"/>
              <a:t>is called the</a:t>
            </a:r>
            <a:r>
              <a:rPr lang="en-US" altLang="en-US" sz="2800" b="1"/>
              <a:t> “Technical Debt”</a:t>
            </a:r>
            <a:r>
              <a:rPr lang="en-US" altLang="en-US" sz="2800"/>
              <a:t>.</a:t>
            </a:r>
            <a:endParaRPr lang="en-US" altLang="en-US" sz="2800" dirty="0"/>
          </a:p>
          <a:p>
            <a:pPr lvl="0"/>
            <a:r>
              <a:rPr lang="en-US" sz="3600" b="1" i="1" dirty="0">
                <a:latin typeface="Book Antiqua" panose="02040602050305030304" pitchFamily="18" charset="0"/>
              </a:rPr>
              <a:t>The Reality </a:t>
            </a:r>
            <a:r>
              <a:rPr lang="en-US" sz="3600" b="1" i="1">
                <a:latin typeface="Book Antiqua" panose="02040602050305030304" pitchFamily="18" charset="0"/>
              </a:rPr>
              <a:t>–</a:t>
            </a:r>
            <a:r>
              <a:rPr lang="en-US" b="1" i="1"/>
              <a:t> </a:t>
            </a:r>
          </a:p>
          <a:p>
            <a:pPr marL="0" lvl="0" indent="0">
              <a:buNone/>
            </a:pPr>
            <a:r>
              <a:rPr lang="en-US" altLang="en-US" sz="2800"/>
              <a:t>Tight </a:t>
            </a:r>
            <a:r>
              <a:rPr lang="en-US" altLang="en-US" sz="2800" dirty="0"/>
              <a:t>deadlines force developers into copy-pasting logic, skipping error handling, and building monolithic "God classes."</a:t>
            </a:r>
          </a:p>
          <a:p>
            <a:pPr lvl="0"/>
            <a:r>
              <a:rPr lang="en-US" altLang="en-US" sz="3600" b="1" i="1">
                <a:latin typeface="Book Antiqua" panose="02040602050305030304" pitchFamily="18" charset="0"/>
              </a:rPr>
              <a:t>Problem Statement –</a:t>
            </a:r>
            <a:r>
              <a:rPr lang="en-US" altLang="en-US" b="1" i="1"/>
              <a:t> </a:t>
            </a:r>
          </a:p>
          <a:p>
            <a:pPr marL="0" lvl="0" indent="0">
              <a:buNone/>
            </a:pPr>
            <a:r>
              <a:rPr lang="en-US" altLang="en-US" sz="3000"/>
              <a:t>Large </a:t>
            </a:r>
            <a:r>
              <a:rPr lang="en-US" altLang="en-US" sz="3000" dirty="0"/>
              <a:t>codebases become unmaintainable, consuming nearly 25% of active developer time.  </a:t>
            </a:r>
          </a:p>
          <a:p>
            <a:pPr lvl="0"/>
            <a:r>
              <a:rPr lang="en-US" altLang="en-US" sz="3600" b="1" i="1" dirty="0">
                <a:latin typeface="Book Antiqua" panose="02040602050305030304" pitchFamily="18" charset="0"/>
              </a:rPr>
              <a:t>The AI </a:t>
            </a:r>
            <a:r>
              <a:rPr lang="en-US" altLang="en-US" sz="3600" b="1" i="1">
                <a:latin typeface="Book Antiqua" panose="02040602050305030304" pitchFamily="18" charset="0"/>
              </a:rPr>
              <a:t>​​Paradox-</a:t>
            </a:r>
            <a:r>
              <a:rPr lang="en-US" altLang="en-US" sz="3600" b="1">
                <a:latin typeface="Book Antiqua" panose="02040602050305030304" pitchFamily="18" charset="0"/>
              </a:rPr>
              <a:t> </a:t>
            </a:r>
            <a:r>
              <a:rPr lang="en-US" altLang="en-US" sz="3600"/>
              <a:t> </a:t>
            </a:r>
          </a:p>
          <a:p>
            <a:pPr marL="0" lvl="0" indent="0">
              <a:buNone/>
            </a:pPr>
            <a:r>
              <a:rPr lang="en-US" altLang="en-US" sz="3000"/>
              <a:t>AI </a:t>
            </a:r>
            <a:r>
              <a:rPr lang="en-US" altLang="en-US" sz="3000" dirty="0"/>
              <a:t>code-generation tools accelerate output but increase duplication—showing an 8x rise in repeated code across 211 million analyzed lines.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B3A77-5994-3CF3-FCCF-54B4A451A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2438400"/>
            <a:ext cx="3886200" cy="2514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609600"/>
            <a:ext cx="10414000" cy="1143000"/>
          </a:xfrm>
        </p:spPr>
        <p:txBody>
          <a:bodyPr/>
          <a:lstStyle/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en-US"/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b="1"/>
              <a:t>Continuous Review:</a:t>
            </a:r>
            <a:r>
              <a:rPr lang="en-US" altLang="en-US"/>
              <a:t> Build an automated AI system that acts as an inline senior developer to analyze and clean repositories.</a:t>
            </a:r>
          </a:p>
          <a:p>
            <a:r>
              <a:rPr lang="en-US" altLang="en-US" b="1"/>
              <a:t>  Active Remediation:</a:t>
            </a:r>
            <a:r>
              <a:rPr lang="en-US" altLang="en-US"/>
              <a:t> Shift software maintenance from passive detection to active code comprehension and autonomous repair.</a:t>
            </a:r>
          </a:p>
          <a:p>
            <a:r>
              <a:rPr lang="en-US" altLang="en-US"/>
              <a:t> </a:t>
            </a:r>
            <a:r>
              <a:rPr lang="en-US" altLang="en-US" b="1"/>
              <a:t> CI/CD Integration:</a:t>
            </a:r>
            <a:r>
              <a:rPr lang="en-US" altLang="en-US"/>
              <a:t> Automatically generate step-by-step refactoring plans and ready-to-merge Pull Requests.</a:t>
            </a:r>
          </a:p>
          <a:p>
            <a:r>
              <a:rPr lang="en-US" altLang="en-US"/>
              <a:t>  </a:t>
            </a:r>
            <a:r>
              <a:rPr lang="en-US" altLang="en-US" b="1"/>
              <a:t>Developer Efficiency:</a:t>
            </a:r>
            <a:r>
              <a:rPr lang="en-US" altLang="en-US"/>
              <a:t> Dramatically reduce manual effort spent on code reviews and legacy refactoring..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33400"/>
            <a:ext cx="10414000" cy="1143000"/>
          </a:xfrm>
        </p:spPr>
        <p:txBody>
          <a:bodyPr/>
          <a:lstStyle/>
          <a:p>
            <a:r>
              <a:rPr lang="en-US" altLang="en-US"/>
              <a:t>Literature Survey / Existing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/>
              <a:t>Rule-Based Limits:</a:t>
            </a:r>
            <a:r>
              <a:rPr lang="en-US" altLang="en-US"/>
              <a:t> Traditional tools (SonarQube, ESLint) rely on rigid regex pattern-matching that only flags surface issues. </a:t>
            </a:r>
          </a:p>
          <a:p>
            <a:r>
              <a:rPr lang="en-US" altLang="en-US"/>
              <a:t> </a:t>
            </a:r>
            <a:r>
              <a:rPr lang="en-US" altLang="en-US" b="1"/>
              <a:t>Lack of Context:</a:t>
            </a:r>
            <a:r>
              <a:rPr lang="en-US" altLang="en-US"/>
              <a:t> Existing systems do not understand application intent, logic flow, or system architecture.  </a:t>
            </a:r>
          </a:p>
          <a:p>
            <a:r>
              <a:rPr lang="en-US" altLang="en-US" b="1"/>
              <a:t>Manual Overhead: </a:t>
            </a:r>
            <a:r>
              <a:rPr lang="en-US" altLang="en-US"/>
              <a:t>Linters identify errors but still force developers to manually rewrite and test complex logic.</a:t>
            </a:r>
          </a:p>
          <a:p>
            <a:r>
              <a:rPr lang="en-US" altLang="en-US"/>
              <a:t> </a:t>
            </a:r>
            <a:r>
              <a:rPr lang="en-US" altLang="en-US" b="1"/>
              <a:t>Alert Fatigue:</a:t>
            </a:r>
            <a:r>
              <a:rPr lang="en-US" altLang="en-US"/>
              <a:t> High false-positive rates cause developers to ignore critical quality warnings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566420"/>
            <a:ext cx="10414000" cy="88138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Proposed Methodology /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584325"/>
            <a:ext cx="6705600" cy="5197475"/>
          </a:xfrm>
        </p:spPr>
        <p:txBody>
          <a:bodyPr>
            <a:normAutofit fontScale="60000" lnSpcReduction="20000"/>
          </a:bodyPr>
          <a:lstStyle/>
          <a:p>
            <a:r>
              <a:rPr lang="en-US" altLang="en-US" sz="3600" b="1"/>
              <a:t>Multi-Agent AI Model: </a:t>
            </a:r>
          </a:p>
          <a:p>
            <a:pPr marL="0" indent="0">
              <a:buNone/>
            </a:pPr>
            <a:r>
              <a:rPr lang="en-US" altLang="en-US" sz="3700"/>
              <a:t>Uses specialized AI agents working together to break down and solve complex refactoring tasks.. </a:t>
            </a:r>
            <a:r>
              <a:rPr lang="en-US" altLang="en-US" sz="3700" b="1"/>
              <a:t> </a:t>
            </a:r>
          </a:p>
          <a:p>
            <a:r>
              <a:rPr lang="en-US" altLang="en-US" sz="3600" b="1"/>
              <a:t>Repository Scanner:</a:t>
            </a:r>
            <a:r>
              <a:rPr lang="en-US" altLang="en-US" sz="3600"/>
              <a:t> </a:t>
            </a:r>
          </a:p>
          <a:p>
            <a:pPr marL="0" indent="0">
              <a:buNone/>
            </a:pPr>
            <a:r>
              <a:rPr lang="en-US" altLang="en-US" sz="3700"/>
              <a:t>Parses full codebases and maps Abstract Syntax Trees (ASTs) to chart system dependencies.  </a:t>
            </a:r>
          </a:p>
          <a:p>
            <a:r>
              <a:rPr lang="en-US" altLang="en-US" sz="4000" b="1"/>
              <a:t>Static Analysis Agent:</a:t>
            </a:r>
            <a:r>
              <a:rPr lang="en-US" altLang="en-US" sz="4000"/>
              <a:t> </a:t>
            </a:r>
          </a:p>
          <a:p>
            <a:pPr marL="0" indent="0">
              <a:buNone/>
            </a:pPr>
            <a:r>
              <a:rPr lang="en-US" altLang="en-US" sz="3700"/>
              <a:t>Evaluates code modules to pinpoint semantic duplications and complex control flows.</a:t>
            </a:r>
            <a:r>
              <a:rPr lang="en-US" altLang="en-US" sz="3700" b="1"/>
              <a:t> </a:t>
            </a:r>
          </a:p>
          <a:p>
            <a:r>
              <a:rPr lang="en-US" altLang="en-US" sz="4000" b="1"/>
              <a:t>Security Agent: </a:t>
            </a:r>
          </a:p>
          <a:p>
            <a:pPr marL="0" indent="0">
              <a:buNone/>
            </a:pPr>
            <a:r>
              <a:rPr lang="en-US" altLang="en-US" sz="3700"/>
              <a:t>Detects hardcoded credentials, injection vulnerabilities, and missing authorization checks. </a:t>
            </a:r>
          </a:p>
          <a:p>
            <a:r>
              <a:rPr lang="en-US" altLang="en-US"/>
              <a:t> </a:t>
            </a:r>
            <a:r>
              <a:rPr lang="en-US" altLang="en-US" sz="4000" b="1"/>
              <a:t>Refactoring Planner:</a:t>
            </a:r>
            <a:r>
              <a:rPr lang="en-US" altLang="en-US"/>
              <a:t> </a:t>
            </a:r>
          </a:p>
          <a:p>
            <a:pPr marL="0" indent="0">
              <a:buNone/>
            </a:pPr>
            <a:r>
              <a:rPr lang="en-US" altLang="en-US" sz="3700"/>
              <a:t>Combines insights from all agents to safely rewrite code without disrupting original functionality.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4976E4-D53C-94CC-8B00-D05E1C79E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142658"/>
            <a:ext cx="3822441" cy="25817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533400"/>
            <a:ext cx="10414000" cy="1143000"/>
          </a:xfrm>
        </p:spPr>
        <p:txBody>
          <a:bodyPr/>
          <a:lstStyle/>
          <a:p>
            <a:r>
              <a:rPr lang="en-US" altLang="en-US"/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Frontend:</a:t>
            </a:r>
            <a:r>
              <a:rPr lang="en-US" altLang="en-US"/>
              <a:t> React.js for interactive dashboards, health metrics, and visual dependency charts.</a:t>
            </a:r>
          </a:p>
          <a:p>
            <a:r>
              <a:rPr lang="en-US" altLang="en-US"/>
              <a:t> </a:t>
            </a:r>
            <a:r>
              <a:rPr lang="en-US" altLang="en-US" b="1"/>
              <a:t>Backend:</a:t>
            </a:r>
            <a:r>
              <a:rPr lang="en-US" altLang="en-US"/>
              <a:t> Node.js &amp; Express.js for handling RESTful APIs and real-time GitHub webhooks.</a:t>
            </a:r>
            <a:r>
              <a:rPr lang="en-US" altLang="en-US" b="1"/>
              <a:t>  </a:t>
            </a:r>
          </a:p>
          <a:p>
            <a:r>
              <a:rPr lang="en-US" altLang="en-US" b="1"/>
              <a:t>AI Orchestration: </a:t>
            </a:r>
            <a:r>
              <a:rPr lang="en-US" altLang="en-US"/>
              <a:t>Python + LangChain with Large Language Models (Gemini/OpenAI) for agent orchestration. </a:t>
            </a:r>
          </a:p>
          <a:p>
            <a:r>
              <a:rPr lang="en-US" altLang="en-US" b="1"/>
              <a:t> Database:</a:t>
            </a:r>
            <a:r>
              <a:rPr lang="en-US" altLang="en-US"/>
              <a:t> PostgreSQL with pgvectorto store code embeddings for semantic similarity detection.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33400"/>
            <a:ext cx="10414000" cy="1143000"/>
          </a:xfrm>
        </p:spPr>
        <p:txBody>
          <a:bodyPr/>
          <a:lstStyle/>
          <a:p>
            <a:r>
              <a:rPr lang="en-US" altLang="en-US"/>
              <a:t>Implementation and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 altLang="en-US" b="1"/>
              <a:t>Comprehension Engine: </a:t>
            </a:r>
            <a:r>
              <a:rPr lang="en-US" altLang="en-US"/>
              <a:t>Translates complex code segments into plain explanations to confirm functional intent before modifying code. </a:t>
            </a:r>
            <a:r>
              <a:rPr lang="en-US" altLang="en-US" b="1"/>
              <a:t> </a:t>
            </a:r>
          </a:p>
          <a:p>
            <a:r>
              <a:rPr lang="en-US" altLang="en-US" b="1"/>
              <a:t>Step 1 - Trigger: </a:t>
            </a:r>
            <a:r>
              <a:rPr lang="en-US" altLang="en-US"/>
              <a:t>Code commits to Git launch automated backend webhooks.  </a:t>
            </a:r>
          </a:p>
          <a:p>
            <a:r>
              <a:rPr lang="en-US" altLang="en-US" b="1"/>
              <a:t>Step 2 - Ingestion:</a:t>
            </a:r>
            <a:r>
              <a:rPr lang="en-US" altLang="en-US"/>
              <a:t> Code is chunked, converted into vector embeddings, and indexed.. </a:t>
            </a:r>
            <a:r>
              <a:rPr lang="en-US" altLang="en-US" b="1"/>
              <a:t> </a:t>
            </a:r>
          </a:p>
          <a:p>
            <a:r>
              <a:rPr lang="en-US" altLang="en-US" b="1"/>
              <a:t>Step 3 - Analysis: </a:t>
            </a:r>
            <a:r>
              <a:rPr lang="en-US" altLang="en-US"/>
              <a:t>Multi-agent AI compares chunks against vector databases to identify structural flaws. </a:t>
            </a:r>
            <a:r>
              <a:rPr lang="en-US" altLang="en-US" b="1"/>
              <a:t> </a:t>
            </a:r>
          </a:p>
          <a:p>
            <a:r>
              <a:rPr lang="en-US" altLang="en-US" b="1"/>
              <a:t>Step 4 - Action:</a:t>
            </a:r>
            <a:r>
              <a:rPr lang="en-US" altLang="en-US"/>
              <a:t> System generates an optimized Pull Request with clean, modular code.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914400"/>
            <a:ext cx="9829800" cy="5487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8400" y="609600"/>
            <a:ext cx="10414000" cy="1143000"/>
          </a:xfrm>
        </p:spPr>
        <p:txBody>
          <a:bodyPr/>
          <a:lstStyle/>
          <a:p>
            <a:r>
              <a:rPr lang="en-US" altLang="en-US"/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/>
              <a:t>Code Transformation:</a:t>
            </a:r>
            <a:r>
              <a:rPr lang="en-US" altLang="en-US"/>
              <a:t> Reconstructs tightly coupled, complex functions into clean, isolated modules.  </a:t>
            </a:r>
          </a:p>
          <a:p>
            <a:r>
              <a:rPr lang="en-US" altLang="en-US" b="1"/>
              <a:t>Quality Metrics:</a:t>
            </a:r>
            <a:r>
              <a:rPr lang="en-US" altLang="en-US"/>
              <a:t> Lowers cyclomatic complexity while increasing overall maintainability and code readability..  </a:t>
            </a:r>
          </a:p>
          <a:p>
            <a:r>
              <a:rPr lang="en-US" altLang="en-US" b="1"/>
              <a:t>Automated Discovery:</a:t>
            </a:r>
            <a:r>
              <a:rPr lang="en-US" altLang="en-US"/>
              <a:t> Discovers dead code paths, anti-patterns, and database bottlenecks without manual checks.  </a:t>
            </a:r>
          </a:p>
          <a:p>
            <a:r>
              <a:rPr lang="en-US" altLang="en-US" b="1"/>
              <a:t>Developer Impact:</a:t>
            </a:r>
            <a:r>
              <a:rPr lang="en-US" altLang="en-US"/>
              <a:t> Streamlines PR approvals and drastically lowers hours spent on technical debt.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414000" cy="924560"/>
          </a:xfrm>
        </p:spPr>
        <p:txBody>
          <a:bodyPr>
            <a:normAutofit/>
          </a:bodyPr>
          <a:lstStyle/>
          <a:p>
            <a:r>
              <a:rPr lang="en-US" altLang="en-US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2667000"/>
            <a:ext cx="10261600" cy="4525963"/>
          </a:xfrm>
        </p:spPr>
        <p:txBody>
          <a:bodyPr/>
          <a:lstStyle/>
          <a:p>
            <a:r>
              <a:rPr lang="en-US" altLang="en-US" b="1"/>
              <a:t>Automation:</a:t>
            </a:r>
            <a:r>
              <a:rPr lang="en-US" altLang="en-US"/>
              <a:t> Automates repetitive, manual software maintenance workflows..  </a:t>
            </a:r>
            <a:r>
              <a:rPr lang="en-IN" altLang="en-US"/>
              <a:t> </a:t>
            </a:r>
          </a:p>
          <a:p>
            <a:r>
              <a:rPr lang="en-US" altLang="en-US" b="1"/>
              <a:t>Architectural Awareness:</a:t>
            </a:r>
            <a:r>
              <a:rPr lang="en-US" altLang="en-US"/>
              <a:t> Moves beyond simple syntax linting to deep, context-aware repository comprehension.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414000" cy="1143000"/>
          </a:xfrm>
        </p:spPr>
        <p:txBody>
          <a:bodyPr/>
          <a:lstStyle/>
          <a:p>
            <a:r>
              <a:rPr lang="en-US" altLang="en-US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0" y="1600200"/>
            <a:ext cx="10261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b="1"/>
              <a:t>IDE Extensions:</a:t>
            </a:r>
            <a:r>
              <a:rPr lang="en-US" altLang="en-US"/>
              <a:t> Develop real-time plugins (eg, VS Code extensions) for instant feedback while typing.  </a:t>
            </a:r>
          </a:p>
          <a:p>
            <a:r>
              <a:rPr lang="en-US" altLang="en-US" b="1"/>
              <a:t>Test Generation:</a:t>
            </a:r>
            <a:r>
              <a:rPr lang="en-US" altLang="en-US"/>
              <a:t> Expand the Refactoring Planner agent to auto-generate comprehensive unit test suites. </a:t>
            </a:r>
          </a:p>
          <a:p>
            <a:r>
              <a:rPr lang="en-US" altLang="en-US"/>
              <a:t> </a:t>
            </a:r>
            <a:r>
              <a:rPr lang="en-US" altLang="en-US" b="1"/>
              <a:t>Enterprise Automation: </a:t>
            </a:r>
            <a:r>
              <a:rPr lang="en-US" altLang="en-US"/>
              <a:t>Embed continuous, background debt remediation into large-scale pipelines.  </a:t>
            </a:r>
            <a:r>
              <a:rPr lang="en-IN" altLang="en-US"/>
              <a:t> </a:t>
            </a:r>
          </a:p>
          <a:p>
            <a:r>
              <a:rPr lang="en-US" altLang="en-US" b="1"/>
              <a:t>Feature Focus:</a:t>
            </a:r>
            <a:r>
              <a:rPr lang="en-US" altLang="en-US"/>
              <a:t> Reclaim engineering hours so teams focus fully on building new feature value.</a:t>
            </a:r>
          </a:p>
          <a:p>
            <a:endParaRPr lang="en-US" altLang="en-US" b="1"/>
          </a:p>
          <a:p>
            <a:r>
              <a:rPr lang="en-US" altLang="en-US" b="1"/>
              <a:t>Self-Healing Systems:</a:t>
            </a:r>
            <a:r>
              <a:rPr lang="en-US" altLang="en-US"/>
              <a:t> Shifts the industry paradigm from passive issue reporting to active, self-healing code bases.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200" y="533400"/>
            <a:ext cx="10414000" cy="1143000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en-US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570037"/>
            <a:ext cx="10668000" cy="4525963"/>
          </a:xfrm>
        </p:spPr>
        <p:txBody>
          <a:bodyPr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altLang="en-US" sz="2500"/>
              <a:t>1) </a:t>
            </a:r>
            <a:r>
              <a:rPr lang="en-IN" altLang="en-US" sz="2500"/>
              <a:t> </a:t>
            </a:r>
            <a:r>
              <a:rPr lang="en-US" altLang="en-US" sz="2500">
                <a:hlinkClick r:id="rId2"/>
              </a:rPr>
              <a:t>https://www.sciencedirect.com/science/article/abs/pii/S0164121226003018</a:t>
            </a:r>
            <a:endParaRPr lang="en-US" altLang="en-US" sz="2500"/>
          </a:p>
          <a:p>
            <a:pPr marL="0" indent="0" algn="l">
              <a:lnSpc>
                <a:spcPct val="110000"/>
              </a:lnSpc>
              <a:buNone/>
            </a:pPr>
            <a:r>
              <a:rPr lang="en-US" altLang="en-US" sz="2500"/>
              <a:t>2) </a:t>
            </a:r>
            <a:r>
              <a:rPr lang="en-IN" altLang="en-US" sz="2500"/>
              <a:t> </a:t>
            </a:r>
            <a:r>
              <a:rPr lang="en-US" altLang="en-US" sz="2500">
                <a:hlinkClick r:id="rId3"/>
              </a:rPr>
              <a:t>https://www.sciencedirect.com/science/article/abs/pii/S0164121226002712</a:t>
            </a:r>
            <a:endParaRPr lang="en-US" altLang="en-US" sz="2500"/>
          </a:p>
          <a:p>
            <a:pPr marL="0" indent="0" algn="l">
              <a:lnSpc>
                <a:spcPct val="110000"/>
              </a:lnSpc>
              <a:buNone/>
            </a:pPr>
            <a:r>
              <a:rPr lang="en-US" altLang="en-US" sz="2500"/>
              <a:t>3) </a:t>
            </a:r>
            <a:r>
              <a:rPr lang="en-US" altLang="en-US" sz="2500">
                <a:hlinkClick r:id="rId4"/>
              </a:rPr>
              <a:t>https://github.blog/engineering/</a:t>
            </a:r>
            <a:endParaRPr lang="en-US" altLang="en-US" sz="2500"/>
          </a:p>
          <a:p>
            <a:pPr marL="0" indent="0" algn="l">
              <a:lnSpc>
                <a:spcPct val="110000"/>
              </a:lnSpc>
              <a:buNone/>
            </a:pPr>
            <a:r>
              <a:rPr lang="en-US" altLang="en-US" sz="2500"/>
              <a:t>4 ) </a:t>
            </a:r>
            <a:r>
              <a:rPr lang="en-US" altLang="en-US" sz="2500">
                <a:solidFill>
                  <a:srgbClr val="151812"/>
                </a:solidFill>
                <a:hlinkClick r:id="rId5"/>
              </a:rPr>
              <a:t>https://www.oreilly.com/live-events/reading-and-maintaining-code-with-generative-ai</a:t>
            </a:r>
            <a:endParaRPr lang="en-US" altLang="en-US" sz="2500">
              <a:solidFill>
                <a:srgbClr val="15181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644775"/>
            <a:ext cx="10363200" cy="1470025"/>
          </a:xfrm>
        </p:spPr>
        <p:txBody>
          <a:bodyPr>
            <a:normAutofit/>
          </a:bodyPr>
          <a:lstStyle/>
          <a:p>
            <a:r>
              <a:rPr lang="en-US" sz="5400"/>
              <a:t>Thank You!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786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Book Antiqua</vt:lpstr>
      <vt:lpstr>Calibri</vt:lpstr>
      <vt:lpstr>Times New Roman</vt:lpstr>
      <vt:lpstr>Wingdings</vt:lpstr>
      <vt:lpstr>1_Office Theme</vt:lpstr>
      <vt:lpstr>The AI Technical Debt Inspector</vt:lpstr>
      <vt:lpstr>Introduction and Problem Statement</vt:lpstr>
      <vt:lpstr>Objectives of the Project</vt:lpstr>
      <vt:lpstr>Literature Survey / Existing Systems</vt:lpstr>
      <vt:lpstr>Proposed Methodology / System Architecture</vt:lpstr>
      <vt:lpstr>Tools and Technologies Used</vt:lpstr>
      <vt:lpstr>Implementation and Working</vt:lpstr>
      <vt:lpstr>PowerPoint Presentation</vt:lpstr>
      <vt:lpstr>Results and Discussion</vt:lpstr>
      <vt:lpstr>Conclusion</vt:lpstr>
      <vt:lpstr>Future Scope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Institutional Ranking Framework (NIRF)</dc:title>
  <dc:creator>Administrator</dc:creator>
  <cp:lastModifiedBy>sukhada bhalerao</cp:lastModifiedBy>
  <cp:revision>286</cp:revision>
  <dcterms:created xsi:type="dcterms:W3CDTF">2006-08-16T00:00:00Z</dcterms:created>
  <dcterms:modified xsi:type="dcterms:W3CDTF">2026-09-02T04:01:03Z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EC4EA562260D4D9BAA20A4B39412B40E_13</vt:lpwstr>
  </property>
</Properties>
</file>